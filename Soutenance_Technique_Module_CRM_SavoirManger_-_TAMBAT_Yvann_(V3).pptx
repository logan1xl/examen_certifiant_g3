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3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19026" y="1768971"/>
            <a:ext cx="6505947" cy="16055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19026" y="1768971"/>
            <a:ext cx="57150" cy="160555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1633351" y="1768971"/>
            <a:ext cx="6163047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SOUTENANCE TECHNIQUE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33351" y="2365474"/>
            <a:ext cx="6163047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4495E"/>
                </a:solidFill>
                <a:latin typeface="Times New Roman" panose="02020603050405020304" pitchFamily="18" charset="0"/>
                <a:ea typeface="Inter Light" pitchFamily="34" charset="-122"/>
                <a:cs typeface="Times New Roman" panose="02020603050405020304" pitchFamily="18" charset="0"/>
              </a:rPr>
              <a:t>Module CRM SavoirManger — Projet DIGITRANS-CM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33351" y="2913757"/>
            <a:ext cx="6163047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TAMBAT Yvan
</a:t>
            </a:r>
            <a:r>
              <a:rPr lang="en-US" sz="10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Lead Développeur / DevOps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288" y="4486275"/>
            <a:ext cx="171450" cy="2286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488" y="4486275"/>
            <a:ext cx="228600" cy="2286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838" y="4486275"/>
            <a:ext cx="285750" cy="2286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338" y="4486275"/>
            <a:ext cx="200025" cy="22860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2113" y="4486275"/>
            <a:ext cx="228600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INTRODUCTION &amp; RÔLE LEAD DE</a:t>
            </a:r>
            <a:r>
              <a:rPr lang="en-US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621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153716"/>
            <a:ext cx="89287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Missions Clés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85825" y="1564481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Initialisation Technique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85825" y="1800225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Cadrage de l'architecture, choix de la stack et mise en place des socles Backend/Frontend.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885825" y="2451702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Sécurité &amp; Résilience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85825" y="2687445"/>
            <a:ext cx="3400425" cy="151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Implémentation JWT, conformité légale et stratégies de mitigation réseau.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166217"/>
            <a:ext cx="150019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14925" y="1153716"/>
            <a:ext cx="163538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Workflow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150644" y="1564481"/>
            <a:ext cx="342185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Gestion du Cycle Git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150644" y="1800225"/>
            <a:ext cx="3421856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Utilisation rigoureuse des branches feature/* et merge final sécurisé dans main (v1.0.0).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STACK TECHNOLOGIQUE &amp; JUSTIFICATION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96591"/>
            <a:ext cx="1752926" cy="46434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395136"/>
            <a:ext cx="1752926" cy="267253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Technologie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324426" y="1296591"/>
            <a:ext cx="1168673" cy="46434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6"/>
          <p:cNvSpPr/>
          <p:nvPr/>
        </p:nvSpPr>
        <p:spPr>
          <a:xfrm>
            <a:off x="2324426" y="1395136"/>
            <a:ext cx="728148" cy="267253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Version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93098" y="1296591"/>
            <a:ext cx="5079402" cy="46434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1" name="Text 8"/>
          <p:cNvSpPr/>
          <p:nvPr/>
        </p:nvSpPr>
        <p:spPr>
          <a:xfrm>
            <a:off x="3493098" y="1395136"/>
            <a:ext cx="5079402" cy="267253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Justification Stratégique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989534"/>
            <a:ext cx="114300" cy="114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113" y="1980605"/>
            <a:ext cx="528991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Spring Boot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324426" y="1866899"/>
            <a:ext cx="561436" cy="259558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449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4.0.6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93098" y="1866899"/>
            <a:ext cx="5079402" cy="2595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Standard industriel, intégration native JPA/Security/Flyway.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461022"/>
            <a:ext cx="85725" cy="114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1538" y="2452092"/>
            <a:ext cx="205184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Java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324426" y="2338387"/>
            <a:ext cx="748988" cy="259558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449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17 (LTS)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493098" y="2338387"/>
            <a:ext cx="5079402" cy="2595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Version stable et performante, compatible Spring Boot 4.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932509"/>
            <a:ext cx="114300" cy="1143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113" y="2923580"/>
            <a:ext cx="50975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React / Vite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324426" y="2809874"/>
            <a:ext cx="591893" cy="259558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449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19 / 8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3493098" y="2809874"/>
            <a:ext cx="5079402" cy="2595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Frontend moderne, HMR ultra-rapide et builds optimisés.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403997"/>
            <a:ext cx="100013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5825" y="3395067"/>
            <a:ext cx="535403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PostgreSQL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2324426" y="3281362"/>
            <a:ext cx="452432" cy="259558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449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15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493098" y="3281362"/>
            <a:ext cx="5079402" cy="2595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Base relationnelle robuste pour la production.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875484"/>
            <a:ext cx="114300" cy="1143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113" y="3866555"/>
            <a:ext cx="274114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JJWT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2324426" y="3752849"/>
            <a:ext cx="615938" cy="259558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449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0.12.5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3493098" y="3752849"/>
            <a:ext cx="5079402" cy="2595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Authentification stateless sécurisée (API fluide).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346972"/>
            <a:ext cx="114300" cy="1143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00113" y="4338042"/>
            <a:ext cx="363882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Mockito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2324426" y="4224337"/>
            <a:ext cx="731354" cy="259558"/>
          </a:xfrm>
          <a:prstGeom prst="rect">
            <a:avLst/>
          </a:prstGeom>
          <a:noFill/>
          <a:ln/>
        </p:spPr>
        <p:txBody>
          <a:bodyPr wrap="non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4495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Standard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3493098" y="4224337"/>
            <a:ext cx="5079402" cy="259558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Tests unitaires isolés (42 tests réalisés, 0 échec).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INITIALISATION &amp; SÉCURITÉ (T1)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23380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969" y="1310878"/>
            <a:ext cx="207640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Configuration &amp; Profilage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71538" y="1685925"/>
            <a:ext cx="34861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Multi-profile (Dev/Prod)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71538" y="1889522"/>
            <a:ext cx="3486150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Séparation stricte des environnements : H2 pour le développement local et PostgreSQL pour la production.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71538" y="2318147"/>
            <a:ext cx="3486150" cy="714375"/>
          </a:xfrm>
          <a:prstGeom prst="rect">
            <a:avLst/>
          </a:prstGeom>
          <a:solidFill>
            <a:srgbClr val="F8F9F9"/>
          </a:solidFill>
          <a:ln/>
        </p:spPr>
      </p:sp>
      <p:sp>
        <p:nvSpPr>
          <p:cNvPr id="12" name="Shape 7"/>
          <p:cNvSpPr/>
          <p:nvPr/>
        </p:nvSpPr>
        <p:spPr>
          <a:xfrm>
            <a:off x="871538" y="2318147"/>
            <a:ext cx="28575" cy="714375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3" name="Text 8"/>
          <p:cNvSpPr/>
          <p:nvPr/>
        </p:nvSpPr>
        <p:spPr>
          <a:xfrm>
            <a:off x="871538" y="2318147"/>
            <a:ext cx="3486150" cy="402546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spring.profiles.active=dev
# Rétablissement config H2 locale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71538" y="3246834"/>
            <a:ext cx="34861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Spring Initializr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71538" y="3450431"/>
            <a:ext cx="3486150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Génération du socle avec Spring Boot 4.0.6 et Java 17, incluant les dépendances Security et JPA.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323380"/>
            <a:ext cx="214313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07781" y="1310878"/>
            <a:ext cx="188670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Sécurité JWT Stateless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086350" y="1685925"/>
            <a:ext cx="34861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Implémentation JJWT 0.12.5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086350" y="1889522"/>
            <a:ext cx="3486150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Gestion complète du cycle de vie des tokens : génération, validation et filtres de sécurité.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5066705" y="2425303"/>
            <a:ext cx="350579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Authentification &amp; RBAC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066705" y="2628900"/>
            <a:ext cx="3505795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Système sans session avec point d'entrée 401 personnalisé et protection des endpoints via Spring Security.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INGÉNIERIE BACKEND &amp; MÉTIER (T3)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4742" y="1325166"/>
            <a:ext cx="129820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Modélisation JPA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19858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7238" y="1685925"/>
            <a:ext cx="2290744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6 Entités JPA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Client, Restaurant, Commande, Interaction, Fidélité, AgentCRM.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05633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238" y="2171700"/>
            <a:ext cx="2290744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6 Repositories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Spring Data JPA avec requêtes paginées et recherche.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91408"/>
            <a:ext cx="100013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57238" y="2657475"/>
            <a:ext cx="2290744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Flyway V1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Initialisation et versionnage du schéma SQL.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615910" y="1325166"/>
            <a:ext cx="934551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Logique Métier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1719858"/>
            <a:ext cx="100013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519469" y="1685925"/>
            <a:ext cx="2290772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5 Services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Gestion des transitions de statut et calcul automatique de fidélité.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2205633"/>
            <a:ext cx="100013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519469" y="2171700"/>
            <a:ext cx="2290772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7 DTOs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avec validation Jakarta (@NotBlank, @Email, @Positive).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2691408"/>
            <a:ext cx="100013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519469" y="2657475"/>
            <a:ext cx="2290772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3 Mappers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MapStruct pour la conversion DTO ↔ Entité.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338878" y="1325166"/>
            <a:ext cx="94416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Qualité &amp; Tests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1719858"/>
            <a:ext cx="100013" cy="100013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281728" y="1685925"/>
            <a:ext cx="2290744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42 Tests Unitaires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Mockito couvrant l'intégralité des services métier.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2205633"/>
            <a:ext cx="100013" cy="100013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281728" y="2171700"/>
            <a:ext cx="2290744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0 Échec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Validation rigoureuse de la stabilité du backend.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2691408"/>
            <a:ext cx="100013" cy="100013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281728" y="2657475"/>
            <a:ext cx="2290744" cy="14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Exceptions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: Gestion centralisée des erreurs métier.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CONFIGURATION TRANSVERSE (T6)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621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153716"/>
            <a:ext cx="157201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Sécurisation CORS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64394" y="1564481"/>
            <a:ext cx="342185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Autorisation Sélective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64394" y="1800225"/>
            <a:ext cx="3421856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Configuration de </a:t>
            </a:r>
            <a:r>
              <a:rPr lang="en-US" sz="800" b="1" dirty="0">
                <a:solidFill>
                  <a:srgbClr val="7F8C8D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CorsConfig.java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pour autoriser exclusivement les domaines de confiance.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64394" y="2273108"/>
            <a:ext cx="866263" cy="15180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2" name="Text 7"/>
          <p:cNvSpPr/>
          <p:nvPr/>
        </p:nvSpPr>
        <p:spPr>
          <a:xfrm>
            <a:off x="864394" y="2273108"/>
            <a:ext cx="757643" cy="150682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localhost:3000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802095" y="2273108"/>
            <a:ext cx="1205480" cy="151805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4" name="Text 9"/>
          <p:cNvSpPr/>
          <p:nvPr/>
        </p:nvSpPr>
        <p:spPr>
          <a:xfrm>
            <a:off x="1802095" y="2273108"/>
            <a:ext cx="1052596" cy="150682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crm.savoirmanger.cm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85825" y="2710662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Méthodes &amp; Headers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85825" y="2946406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Contrôle strict des méthodes HTTP (GET, POST, PUT, DELETE) et des headers autorisés.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166217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36356" y="1153716"/>
            <a:ext cx="208619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Internationalisation (i18n)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214938" y="1564481"/>
            <a:ext cx="335756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Gestion des Locales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214938" y="1800225"/>
            <a:ext cx="3357563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Implémentation de </a:t>
            </a:r>
            <a:r>
              <a:rPr lang="en-US" sz="800" b="1" dirty="0">
                <a:solidFill>
                  <a:srgbClr val="7F8C8D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AcceptHeaderLocaleResolver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avec le français (fr_CM) par défaut.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129213" y="2451702"/>
            <a:ext cx="344328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Messages Localisés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5129213" y="2687445"/>
            <a:ext cx="3443288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21 messages de validation traduits et centralisés dans les fichiers </a:t>
            </a:r>
            <a:r>
              <a:rPr lang="en-US" sz="800" b="1" dirty="0">
                <a:solidFill>
                  <a:srgbClr val="7F8C8D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messages_fr/en.properties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FRONTEND &amp; SERVICES API (T9)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621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153716"/>
            <a:ext cx="184518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Architecture API Axios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85825" y="1564481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5 Services API Modulaires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85825" y="1785938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Gestion centralisée des entités : Auth, Client, Commande, Restaurant et Interaction.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85825" y="2223102"/>
            <a:ext cx="909851" cy="141089"/>
          </a:xfrm>
          <a:prstGeom prst="rect">
            <a:avLst/>
          </a:prstGeom>
          <a:solidFill>
            <a:srgbClr val="ECF0F1"/>
          </a:solidFill>
          <a:ln w="9144">
            <a:solidFill>
              <a:srgbClr val="2980B9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85825" y="2223102"/>
            <a:ext cx="780983" cy="126701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Axios Interceptors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852826" y="2223102"/>
            <a:ext cx="698720" cy="141089"/>
          </a:xfrm>
          <a:prstGeom prst="rect">
            <a:avLst/>
          </a:prstGeom>
          <a:solidFill>
            <a:srgbClr val="ECF0F1"/>
          </a:solidFill>
          <a:ln w="9144">
            <a:solidFill>
              <a:srgbClr val="2980B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852826" y="2223102"/>
            <a:ext cx="625492" cy="126701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Bearer Token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85825" y="2599934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Gestion Automatisée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85825" y="2821391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Intercepteur pour injection automatique du token et auto-logout sur erreur 401.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166217"/>
            <a:ext cx="214313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79219" y="1153716"/>
            <a:ext cx="141965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Sécurité &amp; Hooks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172075" y="1564481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AuthContext &amp; RBAC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172075" y="1785938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Décodage JWT (jwt-decode) pour gestion des 3 rôles : DG, ADMIN_RESTAURANT, AGENT_TERRAIN.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172075" y="2401695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Hooks Personnalisés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5172075" y="2623152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Optimisation via useApi (AbortController), useDebounce (300ms) et useLocalStorage (Offline).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5172075" y="3060316"/>
            <a:ext cx="509829" cy="141089"/>
          </a:xfrm>
          <a:prstGeom prst="rect">
            <a:avLst/>
          </a:prstGeom>
          <a:solidFill>
            <a:srgbClr val="ECF0F1"/>
          </a:solidFill>
          <a:ln w="9144">
            <a:solidFill>
              <a:srgbClr val="2980B9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5172075" y="3060316"/>
            <a:ext cx="455574" cy="126701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React 19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5739054" y="3060316"/>
            <a:ext cx="642938" cy="141089"/>
          </a:xfrm>
          <a:prstGeom prst="rect">
            <a:avLst/>
          </a:prstGeom>
          <a:solidFill>
            <a:srgbClr val="ECF0F1"/>
          </a:solidFill>
          <a:ln w="9144">
            <a:solidFill>
              <a:srgbClr val="2980B9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5739054" y="3060316"/>
            <a:ext cx="583814" cy="126701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Offline-First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RÉSILIENCE RÉSEAU &amp; DÉFIS RÉSOLUS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3765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225153"/>
            <a:ext cx="19716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Migration Critique JJWT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71500" y="1600200"/>
            <a:ext cx="3786188" cy="2964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600200"/>
            <a:ext cx="3786188" cy="35719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6"/>
          <p:cNvSpPr/>
          <p:nvPr/>
        </p:nvSpPr>
        <p:spPr>
          <a:xfrm>
            <a:off x="1035844" y="1814513"/>
            <a:ext cx="3107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Rupture de compatibilité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35844" y="1996678"/>
            <a:ext cx="3107531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API jjwt 0.12.5 : suppression des méthodes setSubject() et signWith(), bloquant la sécurité.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35844" y="2496741"/>
            <a:ext cx="3107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Refactoring API Fluide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35844" y="2678906"/>
            <a:ext cx="3107531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Adoption de Jwts.builder().subject()... et sécurisation via Keys.hmacShaKeyFor().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035844" y="3178969"/>
            <a:ext cx="3107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Conformité Légale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1035844" y="3361134"/>
            <a:ext cx="3107531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Respect de la loi n°2010/012 et correction des vulnérabilités critiques (CVE).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237655"/>
            <a:ext cx="214313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07781" y="1225153"/>
            <a:ext cx="155594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Optimisation Axios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4786313" y="1600200"/>
            <a:ext cx="3786188" cy="2964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14"/>
          <p:cNvSpPr/>
          <p:nvPr/>
        </p:nvSpPr>
        <p:spPr>
          <a:xfrm>
            <a:off x="4786313" y="1600200"/>
            <a:ext cx="3786188" cy="35719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3" name="Text 15"/>
          <p:cNvSpPr/>
          <p:nvPr/>
        </p:nvSpPr>
        <p:spPr>
          <a:xfrm>
            <a:off x="5107781" y="1814513"/>
            <a:ext cx="325040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Instabilité Réseau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107781" y="1996678"/>
            <a:ext cx="3250406" cy="13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Latence Yaoundé ↔ Douala (pics 800ms) causant 23% d'échecs réseau.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5250656" y="2496741"/>
            <a:ext cx="310753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Mitigation Active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5250656" y="2678906"/>
            <a:ext cx="3107531" cy="134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Timeout 30s, retry exponentiel (3 tentatives) et stratégie offline-first.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5232797" y="3178969"/>
            <a:ext cx="312539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Cache LocalStorage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5232797" y="3361134"/>
            <a:ext cx="3125391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Persistance des données critiques pour assurer la continuité de service hors-ligne.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571500" y="4143375"/>
            <a:ext cx="8001000" cy="714375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2" name="Text 22"/>
          <p:cNvSpPr/>
          <p:nvPr/>
        </p:nvSpPr>
        <p:spPr>
          <a:xfrm>
            <a:off x="857250" y="4341614"/>
            <a:ext cx="310069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Taux d'erreur réseau : 23% → 3%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3957944" y="4341614"/>
            <a:ext cx="24046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Tests unitaires : 42/42 OK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6362626" y="4341614"/>
            <a:ext cx="192412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Disponibilité : 99.9%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GESTION DES INCIDENTS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621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153716"/>
            <a:ext cx="19498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Corrections Techniques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05558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5825" y="1564481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Incohérence DTO Backend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85825" y="1800225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Correction des imports cassés dans </a:t>
            </a:r>
            <a:r>
              <a:rPr lang="en-US" sz="800" b="1" dirty="0">
                <a:solidFill>
                  <a:srgbClr val="7F8C8D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AuthController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qui bloquaient le démarrage de Spring Boot.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92778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5825" y="2451702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Qualité de Code UI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85825" y="2687445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Résolution des erreurs JSX critiques dans </a:t>
            </a:r>
            <a:r>
              <a:rPr lang="en-US" sz="800" b="1" dirty="0">
                <a:solidFill>
                  <a:srgbClr val="7F8C8D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Dashboard.jsx</a:t>
            </a: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et alignement des modèles Login.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166217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36356" y="1153716"/>
            <a:ext cx="229582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Fiabilisation Environnement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1605558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72075" y="1564481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Profil BDD Dev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172075" y="1800225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Rétablissement de la configuration H2 (jdbc:h2:mem:digitrans_crm) écrasée par PostgreSQL.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492778"/>
            <a:ext cx="171450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72075" y="2451702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Livrable Frontend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5172075" y="2687445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Build vérifié : 78 modules compilés avec succès, 0 erreur détectée (npm run build).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571500" y="4339828"/>
            <a:ext cx="8001000" cy="3750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4"/>
          <p:cNvSpPr/>
          <p:nvPr/>
        </p:nvSpPr>
        <p:spPr>
          <a:xfrm>
            <a:off x="571500" y="4339828"/>
            <a:ext cx="8001000" cy="14288"/>
          </a:xfrm>
          <a:prstGeom prst="rect">
            <a:avLst/>
          </a:prstGeom>
          <a:solidFill>
            <a:srgbClr val="ECF0F1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577358"/>
            <a:ext cx="128588" cy="12858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71525" y="4568428"/>
            <a:ext cx="981038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Build Status: Stable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3061" y="4577358"/>
            <a:ext cx="128588" cy="12858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843086" y="4568428"/>
            <a:ext cx="103554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Environment: Ready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0481" y="4577358"/>
            <a:ext cx="128588" cy="128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50506" y="4568428"/>
            <a:ext cx="16219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Git Status: Merged (v1.0.0)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1438" cy="725091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BILAN &amp; PERSPECTIVES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621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106" y="1153716"/>
            <a:ext cx="207732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Performance &amp; Réussites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85825" y="1564481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Productivité Élevée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85825" y="1785938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Réalisation de 51 Story Points sur 2 Sprints, couvrant les US critiques (03, 05, 07, 10).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85825" y="2223102"/>
            <a:ext cx="1526251" cy="535781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7"/>
          <p:cNvSpPr/>
          <p:nvPr/>
        </p:nvSpPr>
        <p:spPr>
          <a:xfrm>
            <a:off x="885825" y="2223102"/>
            <a:ext cx="1526251" cy="374974"/>
          </a:xfrm>
          <a:prstGeom prst="rect">
            <a:avLst/>
          </a:prstGeom>
          <a:noFill/>
          <a:ln/>
        </p:spPr>
        <p:txBody>
          <a:bodyPr wrap="square" lIns="212598" tIns="127508" rIns="212598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51 SP</a:t>
            </a: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/ 2 Sprints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85825" y="3008914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Socle Technique Robuste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85825" y="3230370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Architecture scalable, résiliente et conforme aux standards de cybersécurité (Loi 2010/012).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166217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36356" y="1153716"/>
            <a:ext cx="133024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80B9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Futur Technique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193506" y="1564481"/>
            <a:ext cx="337899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Micro-services &amp; K8s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193506" y="1785938"/>
            <a:ext cx="3378994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Migration vers une architecture micro-services orchestrée par Kubernetes pour la haute disponibilité.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5172075" y="2401695"/>
            <a:ext cx="3400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Observabilité Avancée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5172075" y="2623152"/>
            <a:ext cx="3400425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Mise en place d'une stack ELK (Elasticsearch, Logstash, Kibana) pour un monitoring proactif.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896</Words>
  <Application>Microsoft Office PowerPoint</Application>
  <PresentationFormat>Affichage à l'écran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Yvan Tambat</cp:lastModifiedBy>
  <cp:revision>6</cp:revision>
  <dcterms:created xsi:type="dcterms:W3CDTF">2026-05-22T07:48:18Z</dcterms:created>
  <dcterms:modified xsi:type="dcterms:W3CDTF">2026-05-22T07:57:48Z</dcterms:modified>
</cp:coreProperties>
</file>